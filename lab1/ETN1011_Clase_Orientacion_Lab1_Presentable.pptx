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ETN1011 · Laboratorio de Sistemas de Comunicación II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89920" y="65105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UMSA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85800"/>
            <a:ext cx="109728" cy="5394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3C5FD"/>
                </a:solidFill>
              </a:rPr>
              <a:t>ETN1011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41732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Clase de orientación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previa al Laboratorio 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78992" y="31546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GNU/Linux · WSL2 · OpenCode · Git/GitHub · Networking · Namespaces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5321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Laboratorio de Sistemas de Comunicación II  |  4 horas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MAPA DE LA CLASE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¿Qué vamos a construir?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5506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Windows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02536"/>
            <a:ext cx="1289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equipo del estudiante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67712" y="1993392"/>
            <a:ext cx="6126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07792" y="1508760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65506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WSL2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002536"/>
            <a:ext cx="13350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Ubuntu / Debian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993392"/>
            <a:ext cx="594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02352" y="1508760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65506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Linux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002536"/>
            <a:ext cx="13350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entorno de 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75120" y="1993392"/>
            <a:ext cx="594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96912" y="1508760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65506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Namespaces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2002536"/>
            <a:ext cx="13350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nodos aislados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993392"/>
            <a:ext cx="594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91472" y="1508760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65506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0" y="2002536"/>
            <a:ext cx="13350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enlaces virtuales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3246120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24612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410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OpenCode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813048"/>
            <a:ext cx="27157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Asistencia para comprender comandos, interpretar salidas y diagnosticar.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26280" y="3246120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24612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410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 + GitHub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3813048"/>
            <a:ext cx="27157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Versionamiento, repositorio de la materia y publicación del trabajo.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83880" y="3246120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3246120"/>
            <a:ext cx="64008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410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Markdown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3813048"/>
            <a:ext cx="27157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Documentación técnica reproducible y legible como texto.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5156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Meta: llegar al Laboratorio 1 con la infraestructura lista y entendiendo las piezas.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FUNDAMENTOS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Linux: kernel, distribución y herramientas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3756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81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Kernel Linux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28986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Administra CPU, memoria, dispositivos, procesos y comunicaciones de 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64008" cy="2057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81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Distribución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984248"/>
            <a:ext cx="28986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Integra kernel, utilidades, bibliotecas, repositorios y políticas de mantenimiento.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33756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64008" cy="2057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81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Ejemplos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1984248"/>
            <a:ext cx="28986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Debian · Ubuntu · Fedora · Arch Linux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En ETN1011 no estudiamos una distribución: usamos Linux como plataforma experimental de redes.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PLATAFORMA EXPERIMENTAL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¿Por qué Linux en Sistemas de Comunicación II?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94944" y="152704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1732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Interfaces y direccionamiento IPv4/IPv6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" y="210312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9339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Tablas de encaminamiento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4944" y="26791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569464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Vecinos: ARP en IPv4 / NDP en IPv6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325526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145536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Puentes e interfaces virtuales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4944" y="383133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72160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Network namespaces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4944" y="440740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9768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Captura de paquetes y forwarding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89520" y="1417320"/>
            <a:ext cx="3749040" cy="3520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</a:rPr>
              <a:t>Después construiremos sobre esta base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24231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FRRouting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↓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Docker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↓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containerlab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↓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Topologías BGP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ENTORNO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WSL2: Linux dentro de Windows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276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Qué 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29968"/>
            <a:ext cx="2944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Windows Subsystem for Linux permite ejecutar un entorno GNU/Linux desde Windows.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463040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46304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6276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Por qué WSL2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008" y="2029968"/>
            <a:ext cx="2944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Usa un kernel Linux y permite trabajar con herramientas habituales de línea de comandos.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463040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463040"/>
            <a:ext cx="64008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6276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 el curso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2029968"/>
            <a:ext cx="2944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Instructor: Debian. Estudiantes Windows: Ubuntu o Debian sobre WSL2.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2519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WSL2 es el medio de acceso; Linux es la plataforma que queremos aprender a utilizar.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DEMOSTRACIÓN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Instalación y verificación de WSL2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0881360" cy="4526280"/>
          </a:xfrm>
          <a:prstGeom prst="roundRect">
            <a:avLst>
              <a:gd name="adj" fmla="val 12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10287000" cy="4050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PowerShell como administrador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wsl --install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Ver distribuciones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wsl --list --online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Instalar explícitamente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wsl --install -d Ubuntu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wsl --install -d Debian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Verificar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wsl --list --verbose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PRIMER CONTACTO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¿Qué sistema estoy ejecutando?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287000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uname -a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 /etc/os-release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79476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9476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9593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whoami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361688"/>
            <a:ext cx="2807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¿Con qué usuario estoy trabajando?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62272" y="379476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3794760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39593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uname -a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4361688"/>
            <a:ext cx="2807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Kernel, arquitectura e información de compilación.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47304" y="379476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3794760"/>
            <a:ext cx="6400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39593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/etc/os-release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75904" y="4361688"/>
            <a:ext cx="2807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Identifica la distribución y su versión.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ARCHIVOS Y DIRECTORIOS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Moverse por Linux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0881360" cy="4526280"/>
          </a:xfrm>
          <a:prstGeom prst="roundRect">
            <a:avLst>
              <a:gd name="adj" fmla="val 12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10287000" cy="4050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                # dónde estoy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                 # listar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-la              # detalles + ocultos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directorio       # entrar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..               # subir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~                # volver a HOME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prueba        # crear directorio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touch archivo.txt   # crear archivo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ARCHIVOS Y DIRECTORIOS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Leer, copiar, mover y eliminar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0881360" cy="4069080"/>
          </a:xfrm>
          <a:prstGeom prst="roundRect">
            <a:avLst>
              <a:gd name="adj" fmla="val 13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10287000" cy="3593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 archivo.txt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less archivo.txt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cp origen destino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mv origen destino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rm archivo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rmdir directorio_vacio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rm -r directorio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5486400"/>
            <a:ext cx="1065276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60527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Precaución: antes de ejecutar un comando destructivo, comprender exactamente qué modifica.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SISTEMA DE ARCHIVOS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El árbol de directorios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/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123444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23444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399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/home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180136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usuarios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123444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23444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399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/etc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180136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configuración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234440"/>
            <a:ext cx="6400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399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/usr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180136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programas y bibliotecas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89720" y="123444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23444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399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/var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180136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datos variables / logs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645920" y="310896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10896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3273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/proc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74520" y="367588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procesos y kernel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60520" y="310896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0520" y="310896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273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/sys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9120" y="367588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kernel y dispositivos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75120" y="310896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3108960"/>
            <a:ext cx="6400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273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/dev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3720" y="367588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dispositivos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89720" y="310896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9720" y="310896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3273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/tmp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18320" y="3675888"/>
            <a:ext cx="1709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temporales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43000" y="5349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En WSL, los discos de Windows aparecen normalmente bajo /mnt, por ejemplo /mnt/c.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TRABAJAR CON LA TERMINAL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Historial y ayuda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10881360" cy="4160520"/>
          </a:xfrm>
          <a:prstGeom prst="roundRect">
            <a:avLst>
              <a:gd name="adj" fmla="val 131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102870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history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history | grep ip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man 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--help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↑ / ↓     recorrer comandos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Ctrl+R    buscar en el historial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No buscamos memorizar todo: buscamos saber observar, consultar y verificar.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HERRAMIENTA TRANSVERSAL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OpenCode: asistente, no piloto automático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154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Explicar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84248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Comandos, conceptos y salidas que todavía no entendemos.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3154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1732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Diagnosticar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984248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Errores, conectividad y comportamiento observado.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31546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417320"/>
            <a:ext cx="64008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Documentar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1984248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Ayudar a estructurar notas, Markdown y conclusiones.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9776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12394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87168" y="4343400"/>
            <a:ext cx="6217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27248" y="39776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12394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OpenCode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0016" y="4343400"/>
            <a:ext cx="6217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40096" y="39776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412394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Comprender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12864" y="4343400"/>
            <a:ext cx="6217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52944" y="39776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412394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Ejecutar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25712" y="4343400"/>
            <a:ext cx="6217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65792" y="39776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412394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Verificar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DEMOSTRACIÓN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Instalar OpenCode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3977640"/>
          </a:xfrm>
          <a:prstGeom prst="roundRect">
            <a:avLst>
              <a:gd name="adj" fmla="val 137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287000" cy="3502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apt 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apt install curl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-fsSL https://opencode.ai/install | bash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opencode --version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opencode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5623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La configuración del proveedor/modelo se realizará según los recursos disponibles.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HERRAMIENTAS DE TRABAJO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Git, GitHub y Markdown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15468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84248"/>
            <a:ext cx="2715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Control de versiones: registra cambios y mantiene un historial local.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315468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17320"/>
            <a:ext cx="64008" cy="1965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GitHub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984248"/>
            <a:ext cx="2715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Aloja repositorios Git y facilita colaboración y publicación.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315468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417320"/>
            <a:ext cx="64008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Markdown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1984248"/>
            <a:ext cx="2715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Texto simple (.md) para documentación técnica reproducible.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Git ≠ GitHub.  Git funciona localmente; GitHub es un servicio remoto que aloja repositorios.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VERSIONAMIENTO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El ciclo de trabajo con Git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751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Archivos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322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directorio de trabajo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70048" y="2286000"/>
            <a:ext cx="6675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64992" y="18288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751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 add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322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preparar cambios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0" y="2286000"/>
            <a:ext cx="6675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07024" y="18288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19751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 commit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16752" y="2322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registrar versión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54112" y="2286000"/>
            <a:ext cx="6675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49056" y="18288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19751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 push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58784" y="232257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publicar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296144" y="2286000"/>
            <a:ext cx="42062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744200" y="1828800"/>
            <a:ext cx="914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53928" y="197510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GitHub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git status nos dice en qué estado está el trabajo; git log permite revisar el historial.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DEMOSTRACIÓN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Configurar Git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3977640"/>
          </a:xfrm>
          <a:prstGeom prst="roundRect">
            <a:avLst>
              <a:gd name="adj" fmla="val 137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287000" cy="3502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apt install git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--version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config --global user.name "Nombre Apellido"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config --global user.email "correo@example.com"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config --global --list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AUTENTICACIÓN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Enlazar Git con GitHub mediante SSH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3794760"/>
          </a:xfrm>
          <a:prstGeom prst="roundRect">
            <a:avLst>
              <a:gd name="adj" fmla="val 144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287000" cy="3319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ssh-keygen -t ed25519 -C "correo@example.com"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-la ~/.ssh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 ~/.ssh/id_ed25519.pub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ssh -T git@github.com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5440680"/>
            <a:ext cx="1046988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559552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</a:rPr>
              <a:t>Nunca publicar id_ed25519: es la clave privada. GitHub recibe la clave pública id_ed25519.pub.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GITHUB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Clonar el repositorio de la materia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10881360" cy="3063240"/>
          </a:xfrm>
          <a:prstGeom prst="roundRect">
            <a:avLst>
              <a:gd name="adj" fmla="val 179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64792"/>
            <a:ext cx="10287000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clone git@github.com:ORGANIZACION/ETN1011.git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ETN1011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status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Desde aquí las guías, configuraciones y evidencias pueden vivir dentro de un flujo reproducible.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HERRAMIENTAS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Preparar Linux para networking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20574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10287000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apt 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apt install iproute2 iputils-ping traceroute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mtr-tiny tcpdump iperf3 git curl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2926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16052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3251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iproute2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727448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Interfaces, direcciones, rutas, vecinos y namespaces.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4160520"/>
            <a:ext cx="2926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416052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3251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tcpdump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4727448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Observar paquetes y validar hipótesis.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4160520"/>
            <a:ext cx="2926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4160520"/>
            <a:ext cx="6400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43251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iperf3 / mtr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4727448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Medición y diagnóstico.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NETWORKING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Cuatro comandos para mirar una red Linux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ip link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84248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Interfaces y estado.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141732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417320"/>
            <a:ext cx="6400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5819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ip addr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1984248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Direcciones y prefijos.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64008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819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ip route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984248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Tabla de encaminamiento.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141732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41732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5819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ip neigh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1984248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Vecinos de capa 2.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37490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IPv4 → ARP     |     IPv6 → Neighbor Discovery (NDP)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Primero observamos. Después modificamos.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NETWORKING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Conectividad: de la prueba al diagnóstico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2971800"/>
          </a:xfrm>
          <a:prstGeom prst="roundRect">
            <a:avLst>
              <a:gd name="adj" fmla="val 184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287000" cy="2496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ping 8.8.8.8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ping google.com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traceroute 8.8.8.8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mtr 8.8.8.8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Pregunta de diagnóstico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Si 8.8.8.8 responde pero google.com no, ¿qué servicio investigarías primero?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VIRTUALIZACIÓN DE RED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Network namespaces: la idea clave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Un namespace de Linux da a un grupo de procesos una vista aislada de determinados recursos.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8895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namespace hostA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3236976"/>
            <a:ext cx="2615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interfaces · direcciones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rutas · vecinos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22402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238658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Kernel Linux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73168" y="2734056"/>
            <a:ext cx="26151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un solo kernel compartido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0" y="2743200"/>
            <a:ext cx="28346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28895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namespace hostB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22208" y="3236976"/>
            <a:ext cx="2615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interfaces · direcciones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rutas · vecinos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67328" y="3493008"/>
            <a:ext cx="850392" cy="-24688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16368" y="3246120"/>
            <a:ext cx="850392" cy="24688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No son dos máquinas virtuales: son dos entornos de red aislados dentro del mismo Linux.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DEMOSTRACIÓN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Crear y observar namespaces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0881360" cy="4343400"/>
          </a:xfrm>
          <a:prstGeom prst="roundRect">
            <a:avLst>
              <a:gd name="adj" fmla="val 126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10287000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netns list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netns add hostA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netns add hostB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netns list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netns exec hostA ip link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VIRTUALIZACIÓN DE RED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veth: un cable Ethernet virtual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057400"/>
            <a:ext cx="2743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220370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hostA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55117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vethA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0" y="2057400"/>
            <a:ext cx="2743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22208" y="220370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hostB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22208" y="2551176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vethB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2743200"/>
            <a:ext cx="4663440" cy="0"/>
          </a:xfrm>
          <a:prstGeom prst="line">
            <a:avLst/>
          </a:prstGeom>
          <a:noFill/>
          <a:ln w="762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par veth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343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Los paquetes que entran por un extremo aparecen por el otro.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DEMOSTRACIÓN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Crear el enlace virtual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881360" cy="3977640"/>
          </a:xfrm>
          <a:prstGeom prst="roundRect">
            <a:avLst>
              <a:gd name="adj" fmla="val 137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287000" cy="3502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link add vethA type veth peer name vethB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link set vethA netns hostA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link set vethB netns hostB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netns exec hostA ip link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ip netns exec hostB ip link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TOPOLOGÍA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Punto de partida del Laboratorio 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324612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7510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hostA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2322576"/>
            <a:ext cx="30266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network namespace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vethA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28432" y="1828800"/>
            <a:ext cx="324612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97510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hostB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2322576"/>
            <a:ext cx="30266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network namespace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vethB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3063240"/>
            <a:ext cx="3867912" cy="0"/>
          </a:xfrm>
          <a:prstGeom prst="line">
            <a:avLst/>
          </a:prstGeom>
          <a:noFill/>
          <a:ln w="762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veth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En el laboratorio: direccionar → activar → verificar rutas/vecinos → probar → fallar → diagnosticar.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CHECKLIST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Antes de la próxima clase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90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53312" y="14721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WSL2 operativo si se utiliza Windows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490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76872" y="14721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Ubuntu o Debian funcionando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42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53312" y="252374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OpenCode instalado y operativo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542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76872" y="252374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Cuenta GitHub + Git configurado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342900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93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53312" y="35753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SSH con GitHub funcionando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0" y="342900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593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76872" y="35753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Repositorio ETN1011 clonado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448056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6451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53312" y="462686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ip, ping, traceroute, mtr y tcpdump disponibles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0" y="448056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6451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76872" y="462686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Crear y eliminar un network namespace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CIERRE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Lo importante no son los comandos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OBSERVAR  →  COMPRENDER  →  CONFIGURAR  →  MEDIR  →  DIAGNOSTICAR  →  DOCUMENTAR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97280" y="3063240"/>
            <a:ext cx="99669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794760"/>
            <a:ext cx="10104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Linux nos da el laboratorio. OpenCode nos ayuda a explorar. Git/GitHub conservan la evidencia.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El estudiante debe poder explicar y defender lo que hizo.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UMSA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ETN1011 — Orientación Laboratorio 1</dc:title>
  <dc:subject>Clase de orientación previa al Laboratorio 1</dc:subject>
  <dc:creator>ETN1011</dc:creator>
  <cp:lastModifiedBy>ETN1011</cp:lastModifiedBy>
  <cp:revision>1</cp:revision>
  <dcterms:created xsi:type="dcterms:W3CDTF">2026-09-09T20:04:39Z</dcterms:created>
  <dcterms:modified xsi:type="dcterms:W3CDTF">2026-09-09T20:04:39Z</dcterms:modified>
</cp:coreProperties>
</file>