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7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s-BO" sz="4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desplazar la diapositiva</a:t>
            </a:r>
            <a:endParaRPr b="0" lang="es-BO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BO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B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B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b="0" lang="es-B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B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B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B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B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B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B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B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222EB9F-53FD-4668-B844-D5A86B3C32E2}" type="slidenum">
              <a:rPr b="0" lang="es-B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B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BO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19320" y="2857680"/>
            <a:ext cx="97531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>
              <a:lnSpc>
                <a:spcPct val="90000"/>
              </a:lnSpc>
              <a:buNone/>
            </a:pP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 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 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x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í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b="0" lang="es-BO" sz="4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endParaRPr b="0" lang="es-BO" sz="4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s-BO" sz="4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</a:t>
            </a:r>
            <a:r>
              <a:rPr b="0" lang="es-BO" sz="4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del texto de título</a:t>
            </a:r>
            <a:endParaRPr b="0" lang="es-BO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  <a:endParaRPr b="0" lang="es-BO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  <a:endParaRPr b="0" lang="es-BO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  <a:endParaRPr b="0" lang="es-BO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  <a:endParaRPr b="0" lang="es-BO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  <a:endParaRPr b="0" lang="es-BO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  <a:endParaRPr b="0" lang="es-BO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  <a:endParaRPr b="0" lang="es-BO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x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í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endParaRPr b="0" lang="es-BO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47712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  <a:endParaRPr b="0" lang="es-BO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9320" y="2590920"/>
            <a:ext cx="97531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>
              <a:lnSpc>
                <a:spcPct val="90000"/>
              </a:lnSpc>
              <a:buNone/>
            </a:pP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ls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 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it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 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 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 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x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 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tí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b="0" lang="es-BO" sz="4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endParaRPr b="0" lang="es-BO" sz="4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del texto de título</a:t>
            </a:r>
            <a:endParaRPr b="0" lang="es-BO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</a:t>
            </a:r>
            <a:r>
              <a:rPr b="0" lang="es-BO" sz="3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del texto de título</a:t>
            </a:r>
            <a:endParaRPr b="0" lang="es-BO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10820160" cy="42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2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  <a:endParaRPr b="0" lang="es-BO" sz="22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3284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66720" y="704880"/>
            <a:ext cx="7238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FRROUTING EN WSL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66720" y="1380960"/>
            <a:ext cx="7238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40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Un router Linux</a:t>
            </a:r>
            <a:endParaRPr b="0" lang="es-BO" sz="4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BO" sz="40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con FRR</a:t>
            </a:r>
            <a:endParaRPr b="0" lang="es-BO" sz="4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04880" y="3143160"/>
            <a:ext cx="6857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80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Curso práctico con Ubuntu, rutas estáticas y una arquitectura que separa control y forwarding</a:t>
            </a:r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8096400" y="1123920"/>
            <a:ext cx="3047760" cy="3428640"/>
          </a:xfrm>
          <a:prstGeom prst="roundRect">
            <a:avLst>
              <a:gd name="adj" fmla="val 5000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8420040" y="1476360"/>
            <a:ext cx="2285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0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LABORATORIO</a:t>
            </a:r>
            <a:endParaRPr b="0" lang="es-BO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420040" y="1905120"/>
            <a:ext cx="20952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31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90 min</a:t>
            </a:r>
            <a:endParaRPr b="0" lang="es-BO" sz="3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420040" y="2781360"/>
            <a:ext cx="228564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65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WSL2 · Ubuntu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65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FRRouting · vtysh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65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Un solo router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04880" y="5810400"/>
            <a:ext cx="4762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Nivel introductorio–intermedio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RUTA DEL CURSO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Qué aprenderás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02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43040" y="147636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OBJETIVO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238560" y="147636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Instalar FRR y administrar rutas en un único router Linux.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43040" y="214308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ARQUITECTURA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238560" y="214308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Entender cómo colaboran vtysh, los daemons, zebra y el kernel.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43040" y="280980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PRÁCTICA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3238560" y="280980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Crear una interfaz dummy y una ruta estática blackhole.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43040" y="347652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LÍMITES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238560" y="347652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Sin segundo router: no habrá vecindad OSPF ni sesión BGP real.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743040" y="4667400"/>
            <a:ext cx="10286640" cy="856800"/>
          </a:xfrm>
          <a:prstGeom prst="roundRect">
            <a:avLst>
              <a:gd name="adj" fmla="val 8889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952560" y="4829040"/>
            <a:ext cx="171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Regla de seguridad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2857680" y="4772160"/>
            <a:ext cx="77148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No borres la ruta por defecto ni modifiques la interfaz usada por WSL para Internet.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HISTORIA Y CONTEXTO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De GNU Zebra a FRRouting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03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952560" y="2095560"/>
            <a:ext cx="1809360" cy="1047240"/>
          </a:xfrm>
          <a:prstGeom prst="roundRect">
            <a:avLst>
              <a:gd name="adj" fmla="val 727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095480" y="226692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GNU Zebra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095480" y="2685960"/>
            <a:ext cx="15235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13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finales de los 90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876400" y="2362320"/>
            <a:ext cx="761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1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→</a:t>
            </a:r>
            <a:endParaRPr b="0" lang="es-BO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809880" y="2095560"/>
            <a:ext cx="1809360" cy="1047240"/>
          </a:xfrm>
          <a:prstGeom prst="roundRect">
            <a:avLst>
              <a:gd name="adj" fmla="val 727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952800" y="226692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Quagga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952800" y="2685960"/>
            <a:ext cx="15235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13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2002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734080" y="2362320"/>
            <a:ext cx="761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1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→</a:t>
            </a:r>
            <a:endParaRPr b="0" lang="es-BO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667560" y="2095560"/>
            <a:ext cx="1809360" cy="1047240"/>
          </a:xfrm>
          <a:prstGeom prst="roundRect">
            <a:avLst>
              <a:gd name="adj" fmla="val 7273"/>
            </a:avLst>
          </a:prstGeom>
          <a:solidFill>
            <a:srgbClr val="22d3ee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810480" y="226692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FRRouting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810480" y="2685960"/>
            <a:ext cx="15235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13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2017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591400" y="2362320"/>
            <a:ext cx="761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1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→</a:t>
            </a:r>
            <a:endParaRPr b="0" lang="es-BO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524880" y="2095560"/>
            <a:ext cx="1809360" cy="1047240"/>
          </a:xfrm>
          <a:prstGeom prst="roundRect">
            <a:avLst>
              <a:gd name="adj" fmla="val 727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667800" y="226692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Comunidad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667800" y="2685960"/>
            <a:ext cx="15235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13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actual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52560" y="4238640"/>
            <a:ext cx="4571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Linux ya reenvía paquetes y mantiene una tabla de rutas.</a:t>
            </a:r>
            <a:endParaRPr b="0" lang="es-BO" sz="1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52560" y="4667400"/>
            <a:ext cx="6190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8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FRR agrega la lógica de protocolos dinámicos y una CLI de operador.</a:t>
            </a:r>
            <a:endParaRPr b="0" lang="es-BO" sz="1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8001000" y="4095720"/>
            <a:ext cx="2857320" cy="1142640"/>
          </a:xfrm>
          <a:prstGeom prst="roundRect">
            <a:avLst>
              <a:gd name="adj" fmla="val 6667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286840" y="42861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Pregunta clave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8286840" y="4629240"/>
            <a:ext cx="22856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¿Por qué FRR si existe ip route?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COMPONENTES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Arquitectura: Linux + FRR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04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000760" y="1285920"/>
            <a:ext cx="2190240" cy="552240"/>
          </a:xfrm>
          <a:prstGeom prst="roundRect">
            <a:avLst>
              <a:gd name="adj" fmla="val 13793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191200" y="1409760"/>
            <a:ext cx="1809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vtysh / mgmtd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238400" y="2523960"/>
            <a:ext cx="2095200" cy="685440"/>
          </a:xfrm>
          <a:prstGeom prst="roundRect">
            <a:avLst>
              <a:gd name="adj" fmla="val 11111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809880" y="2523960"/>
            <a:ext cx="2095200" cy="685440"/>
          </a:xfrm>
          <a:prstGeom prst="roundRect">
            <a:avLst>
              <a:gd name="adj" fmla="val 11111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381720" y="2523960"/>
            <a:ext cx="2095200" cy="685440"/>
          </a:xfrm>
          <a:prstGeom prst="roundRect">
            <a:avLst>
              <a:gd name="adj" fmla="val 11111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953560" y="2523960"/>
            <a:ext cx="2095200" cy="685440"/>
          </a:xfrm>
          <a:prstGeom prst="roundRect">
            <a:avLst>
              <a:gd name="adj" fmla="val 11111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380960" y="2714760"/>
            <a:ext cx="1809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staticd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952800" y="2714760"/>
            <a:ext cx="1809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ospfd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524640" y="2714760"/>
            <a:ext cx="1809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bgpd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096480" y="2714760"/>
            <a:ext cx="1809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otros daemons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000760" y="3905280"/>
            <a:ext cx="2190240" cy="590040"/>
          </a:xfrm>
          <a:prstGeom prst="roundRect">
            <a:avLst>
              <a:gd name="adj" fmla="val 12903"/>
            </a:avLst>
          </a:prstGeom>
          <a:solidFill>
            <a:srgbClr val="ffbd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191200" y="4057560"/>
            <a:ext cx="1809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zebra · ZAPI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000760" y="5191200"/>
            <a:ext cx="2190240" cy="590040"/>
          </a:xfrm>
          <a:prstGeom prst="roundRect">
            <a:avLst>
              <a:gd name="adj" fmla="val 12903"/>
            </a:avLst>
          </a:prstGeom>
          <a:solidFill>
            <a:srgbClr val="65d6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191200" y="5343480"/>
            <a:ext cx="1809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Kernel Linux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57160" y="1666800"/>
            <a:ext cx="123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0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CONTROL</a:t>
            </a:r>
            <a:endParaRPr b="0" lang="es-BO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857160" y="5429160"/>
            <a:ext cx="123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050" strike="noStrike" u="none">
                <a:solidFill>
                  <a:srgbClr val="65d68a"/>
                </a:solidFill>
                <a:effectLst/>
                <a:uFillTx/>
                <a:latin typeface="Arial"/>
              </a:rPr>
              <a:t>DATOS</a:t>
            </a:r>
            <a:endParaRPr b="0" lang="es-BO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333600" y="6095880"/>
            <a:ext cx="5714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Los daemons calculan; zebra coordina; Linux reenvía.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PLANO DE CONTROL Y PLANO DE DATOS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Quién hace qué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05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43040" y="142884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zebra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238560" y="142884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Coordina interfaces y rutas con el kernel. Instala la mejor ruta en la FIB.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43040" y="214308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staticd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238560" y="214308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Administra rutas estáticas definidas desde FRR.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43040" y="285768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ospfd / bgpd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238560" y="285768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Implementan protocolos de enrutamiento. En este laboratorio permanecen desactivados.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743040" y="357192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vtysh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238560" y="357192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Consola integrada que envía comandos a los daemons mediante sockets Unix.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43040" y="428616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watchfrr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238560" y="428616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Supervisa procesos y ayuda a mantener los servicios operativos.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762120" y="5429160"/>
            <a:ext cx="10286640" cy="523440"/>
          </a:xfrm>
          <a:prstGeom prst="roundRect">
            <a:avLst>
              <a:gd name="adj" fmla="val 14545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000080" y="5562720"/>
            <a:ext cx="9810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FRR no sustituye la configuración de IP, interfaces ni firewall de Ubuntu.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INSTALACIÓN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Preparación en WSL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06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00280" y="1380960"/>
            <a:ext cx="1904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PowerShell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00280" y="1762200"/>
            <a:ext cx="4762080" cy="999720"/>
          </a:xfrm>
          <a:prstGeom prst="roundRect">
            <a:avLst>
              <a:gd name="adj" fmla="val 7619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90720" y="1876320"/>
            <a:ext cx="438120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wsl --list --verbose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wsl --install -d Ubuntu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191280" y="1380960"/>
            <a:ext cx="2095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Ubuntu / Bash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191280" y="1762200"/>
            <a:ext cx="4762080" cy="1380600"/>
          </a:xfrm>
          <a:prstGeom prst="roundRect">
            <a:avLst>
              <a:gd name="adj" fmla="val 5517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381720" y="1876320"/>
            <a:ext cx="438120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cat /etc/os-release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ip -br addr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ip -4 route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00280" y="3476520"/>
            <a:ext cx="10153440" cy="1047240"/>
          </a:xfrm>
          <a:prstGeom prst="roundRect">
            <a:avLst>
              <a:gd name="adj" fmla="val 727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990720" y="3591000"/>
            <a:ext cx="977220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sudo apt update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sudo apt install -y frr frr-pythontools iproute2 iputils-ping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SERVICIOS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Activar FRR y entrar a vtysh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07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43040" y="1380960"/>
            <a:ext cx="4476240" cy="2476080"/>
          </a:xfrm>
          <a:prstGeom prst="roundRect">
            <a:avLst>
              <a:gd name="adj" fmla="val 3077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933480" y="1495440"/>
            <a:ext cx="4095360" cy="22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sudo nano /etc/frr/daemons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ospfd=no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bgpd=no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000840" y="1380960"/>
            <a:ext cx="4762080" cy="1428480"/>
          </a:xfrm>
          <a:prstGeom prst="roundRect">
            <a:avLst>
              <a:gd name="adj" fmla="val 533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191280" y="1495440"/>
            <a:ext cx="43812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65d68a"/>
                </a:solidFill>
                <a:effectLst/>
                <a:uFillTx/>
                <a:latin typeface="Arial"/>
              </a:rPr>
              <a:t>sudo systemctl enable --now frr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65d68a"/>
                </a:solidFill>
                <a:effectLst/>
                <a:uFillTx/>
                <a:latin typeface="Arial"/>
              </a:rPr>
              <a:t>sudo systemctl restart frr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65d68a"/>
                </a:solidFill>
                <a:effectLst/>
                <a:uFillTx/>
                <a:latin typeface="Arial"/>
              </a:rPr>
              <a:t>sudo systemctl status frr --no-pager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743040" y="43340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Bash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43040" y="4667400"/>
            <a:ext cx="4476240" cy="952200"/>
          </a:xfrm>
          <a:prstGeom prst="roundRect">
            <a:avLst>
              <a:gd name="adj" fmla="val 8000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933480" y="4781520"/>
            <a:ext cx="409536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sudo vtysh -c 'show version'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sudo vtysh -c 'show ip route'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000840" y="3286080"/>
            <a:ext cx="190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Dentro de vtysh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000840" y="3619440"/>
            <a:ext cx="4762080" cy="1809360"/>
          </a:xfrm>
          <a:prstGeom prst="roundRect">
            <a:avLst>
              <a:gd name="adj" fmla="val 4211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191280" y="3733920"/>
            <a:ext cx="4381200" cy="15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version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interface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ip route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running-config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exit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TOPOLOGÍA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Laboratorio: un solo router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08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781200" y="2476440"/>
            <a:ext cx="1904760" cy="1047240"/>
          </a:xfrm>
          <a:prstGeom prst="roundRect">
            <a:avLst>
              <a:gd name="adj" fmla="val 727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971640" y="285768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Windows / WSL2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095640" y="2714760"/>
            <a:ext cx="2854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│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619440" y="2048040"/>
            <a:ext cx="3333240" cy="1904760"/>
          </a:xfrm>
          <a:prstGeom prst="roundRect">
            <a:avLst>
              <a:gd name="adj" fmla="val 4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905280" y="2333520"/>
            <a:ext cx="2761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10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R1 = Ubuntu + FRR</a:t>
            </a:r>
            <a:endParaRPr b="0" lang="es-BO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905280" y="2857680"/>
            <a:ext cx="2761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65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único router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905280" y="3238560"/>
            <a:ext cx="2761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zebra + staticd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7334280" y="2714760"/>
            <a:ext cx="2854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│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7953480" y="2476440"/>
            <a:ext cx="2381040" cy="1047240"/>
          </a:xfrm>
          <a:prstGeom prst="roundRect">
            <a:avLst>
              <a:gd name="adj" fmla="val 727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8143920" y="2685960"/>
            <a:ext cx="199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dummy0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8143920" y="3048120"/>
            <a:ext cx="19998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10.10.10.1/24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81200" y="4762440"/>
            <a:ext cx="9524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La interfaz dummy simula una red conectada sin una segunda máquina.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81200" y="5219640"/>
            <a:ext cx="6667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No demuestra conectividad entre routers.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PRÁCTICA GUIADA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Rutas estáticas sin vecino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09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743040" y="133344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Crear la interfaz de laboratorio en Bash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743040" y="1714680"/>
            <a:ext cx="5143320" cy="1571400"/>
          </a:xfrm>
          <a:prstGeom prst="roundRect">
            <a:avLst>
              <a:gd name="adj" fmla="val 4848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933480" y="1828800"/>
            <a:ext cx="4762080" cy="13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sudo ip link add dummy0 type dummy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sudo ip addr add 10.10.10.1/24 dev dummy0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sudo ip link set dummy0 up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ip -br addr show dummy0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286680" y="133344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Crear una ruta blackhole en vtysh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286680" y="1714680"/>
            <a:ext cx="4762080" cy="1571400"/>
          </a:xfrm>
          <a:prstGeom prst="roundRect">
            <a:avLst>
              <a:gd name="adj" fmla="val 4848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6477120" y="1828800"/>
            <a:ext cx="4381200" cy="13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configure terminal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ip route 198.51.100.0/24 blackhole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end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ip route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write memory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43040" y="4095720"/>
            <a:ext cx="10286640" cy="1047240"/>
          </a:xfrm>
          <a:prstGeom prst="roundRect">
            <a:avLst>
              <a:gd name="adj" fmla="val 727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971640" y="4286160"/>
            <a:ext cx="9524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198.51.100.0/24 está reservado para documentación.</a:t>
            </a:r>
            <a:endParaRPr b="0" lang="es-BO" sz="1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971640" y="4686480"/>
            <a:ext cx="9524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blackhole descarta paquetes. No es una ruta hacia Internet.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FRR FRENTE AL KERNEL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Dos tablas, dos responsabilidades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10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857160" y="1571760"/>
            <a:ext cx="4285800" cy="2666520"/>
          </a:xfrm>
          <a:prstGeom prst="roundRect">
            <a:avLst>
              <a:gd name="adj" fmla="val 2857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143000" y="1857240"/>
            <a:ext cx="3619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8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FRR / vtysh</a:t>
            </a:r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143000" y="2381400"/>
            <a:ext cx="3619080" cy="1142640"/>
          </a:xfrm>
          <a:prstGeom prst="roundRect">
            <a:avLst>
              <a:gd name="adj" fmla="val 6667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333440" y="2495520"/>
            <a:ext cx="3238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ip route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running-config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interface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143000" y="3762360"/>
            <a:ext cx="3619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8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Vista de control y configuración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191280" y="1571760"/>
            <a:ext cx="4285800" cy="2666520"/>
          </a:xfrm>
          <a:prstGeom prst="roundRect">
            <a:avLst>
              <a:gd name="adj" fmla="val 2857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6477120" y="1857240"/>
            <a:ext cx="3619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800" strike="noStrike" u="none">
                <a:solidFill>
                  <a:srgbClr val="65d68a"/>
                </a:solidFill>
                <a:effectLst/>
                <a:uFillTx/>
                <a:latin typeface="Arial"/>
              </a:rPr>
              <a:t>Linux / Bash</a:t>
            </a:r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477120" y="2381400"/>
            <a:ext cx="3619080" cy="1142640"/>
          </a:xfrm>
          <a:prstGeom prst="roundRect">
            <a:avLst>
              <a:gd name="adj" fmla="val 6667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667560" y="2495520"/>
            <a:ext cx="3238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65d68a"/>
                </a:solidFill>
                <a:effectLst/>
                <a:uFillTx/>
                <a:latin typeface="Arial"/>
              </a:rPr>
              <a:t>ip -4 route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65d68a"/>
                </a:solidFill>
                <a:effectLst/>
                <a:uFillTx/>
                <a:latin typeface="Arial"/>
              </a:rPr>
              <a:t>ip -br addr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65d68a"/>
                </a:solidFill>
                <a:effectLst/>
                <a:uFillTx/>
                <a:latin typeface="Arial"/>
              </a:rPr>
              <a:t>ip link show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477120" y="3762360"/>
            <a:ext cx="3619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8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Vista efectiva del kernel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857160" y="4952880"/>
            <a:ext cx="9619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729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La ruta debe poder observarse desde ambas perspectivas.</a:t>
            </a:r>
            <a:endParaRPr b="0" lang="es-BO" sz="172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143000" y="5619600"/>
            <a:ext cx="9524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write memory guarda FRR, pero no conserva interfaces creadas con ip link.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DESPUÉS DEL LABORATORIO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Persistencia y limpieza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11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743040" y="152388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FRR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238560" y="152388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write memory guarda la configuración en /etc/frr/frr.conf.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743040" y="223848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Linux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238560" y="223848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ip link add e ip addr add son cambios temporales en WSL.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743040" y="295272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Persistencia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3238560" y="295272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Para interfaces permanentes se necesita systemd-networkd, NetworkManager o un script.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743040" y="366696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4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Limpieza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3238560" y="3666960"/>
            <a:ext cx="7810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Al terminar: sudo ip link delete dummy0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762120" y="4762440"/>
            <a:ext cx="10286640" cy="904680"/>
          </a:xfrm>
          <a:prstGeom prst="roundRect">
            <a:avLst>
              <a:gd name="adj" fmla="val 8421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000080" y="4933800"/>
            <a:ext cx="152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ffbd69"/>
                </a:solidFill>
                <a:effectLst/>
                <a:uFillTx/>
                <a:latin typeface="Arial"/>
              </a:rPr>
              <a:t>Precaución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2857680" y="4876920"/>
            <a:ext cx="7810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No uses ip route flush ni borres la ruta predeterminada para resolver un fallo.</a:t>
            </a:r>
            <a:endParaRPr b="0" lang="es-BO" sz="1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SINTAXIS PARECIDA, SISTEMAS DISTINTOS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FRR y Cisco IOS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12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743040" y="1380960"/>
            <a:ext cx="10286640" cy="428400"/>
          </a:xfrm>
          <a:prstGeom prst="rect">
            <a:avLst/>
          </a:prstGeom>
          <a:solidFill>
            <a:srgbClr val="22d3ee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905040" y="1476360"/>
            <a:ext cx="23810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8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Operación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429000" y="1476360"/>
            <a:ext cx="34761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FRR / vtysh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7095960" y="1476360"/>
            <a:ext cx="37144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Cisco IOS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743040" y="1809720"/>
            <a:ext cx="10286640" cy="618840"/>
          </a:xfrm>
          <a:prstGeom prst="rect">
            <a:avLst/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905040" y="1905120"/>
            <a:ext cx="23810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Guardar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3429000" y="1905120"/>
            <a:ext cx="34761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write memory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7095960" y="1905120"/>
            <a:ext cx="3714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copy run start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743040" y="2428920"/>
            <a:ext cx="10286640" cy="618840"/>
          </a:xfrm>
          <a:prstGeom prst="rect">
            <a:avLst/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905040" y="2523960"/>
            <a:ext cx="23810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Ver rutas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3429000" y="2523960"/>
            <a:ext cx="34761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ip route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7095960" y="2523960"/>
            <a:ext cx="3714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show ip route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743040" y="3048120"/>
            <a:ext cx="10286640" cy="618840"/>
          </a:xfrm>
          <a:prstGeom prst="rect">
            <a:avLst/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905040" y="3143160"/>
            <a:ext cx="23810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Ruta estática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3429000" y="3143160"/>
            <a:ext cx="34761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ip route 10.20.0.0/24 10.0.0.2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095960" y="3143160"/>
            <a:ext cx="3714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ip route 10.20.0.0 255.255.255.0 10.0.0.2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743040" y="3666960"/>
            <a:ext cx="10286640" cy="618840"/>
          </a:xfrm>
          <a:prstGeom prst="rect">
            <a:avLst/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905040" y="3762360"/>
            <a:ext cx="23810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IP de interfaz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3429000" y="3762360"/>
            <a:ext cx="34761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ip addr add ... dev ...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095960" y="3762360"/>
            <a:ext cx="3714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2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interface + ip address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857160" y="5238720"/>
            <a:ext cx="10096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FRR usa Linux como sistema operativo de red; IOS integra más funciones en una sola plataforma.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SI ALGO FALLA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Diagnóstico rápido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13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743040" y="1428840"/>
            <a:ext cx="2857320" cy="514080"/>
          </a:xfrm>
          <a:prstGeom prst="roundRect">
            <a:avLst>
              <a:gd name="adj" fmla="val 14815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905040" y="1542960"/>
            <a:ext cx="2571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systemctl no funciona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000680" y="1542960"/>
            <a:ext cx="6667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ps -p 1 -o comm=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43040" y="2152800"/>
            <a:ext cx="2857320" cy="514080"/>
          </a:xfrm>
          <a:prstGeom prst="roundRect">
            <a:avLst>
              <a:gd name="adj" fmla="val 14815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905040" y="2266920"/>
            <a:ext cx="2571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vtysh no conecta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000680" y="2266920"/>
            <a:ext cx="6667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systemctl status frr · journalctl -u frr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743040" y="2876400"/>
            <a:ext cx="2857320" cy="514080"/>
          </a:xfrm>
          <a:prstGeom prst="roundRect">
            <a:avLst>
              <a:gd name="adj" fmla="val 14815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905040" y="2990880"/>
            <a:ext cx="2571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No aparece la ruta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4000680" y="2990880"/>
            <a:ext cx="6667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show running-config · show ip route · ip -4 route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43040" y="3600360"/>
            <a:ext cx="2857320" cy="514080"/>
          </a:xfrm>
          <a:prstGeom prst="roundRect">
            <a:avLst>
              <a:gd name="adj" fmla="val 14815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905040" y="3714840"/>
            <a:ext cx="2571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No se crea dummy0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4000680" y="3714840"/>
            <a:ext cx="6667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Revisar sudo y capacidades de WSL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43040" y="4324320"/>
            <a:ext cx="2857320" cy="514080"/>
          </a:xfrm>
          <a:prstGeom prst="roundRect">
            <a:avLst>
              <a:gd name="adj" fmla="val 14815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905040" y="4438800"/>
            <a:ext cx="2571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8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No hay vecinos OSPF</a:t>
            </a:r>
            <a:endParaRPr b="0" lang="es-BO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000680" y="4438800"/>
            <a:ext cx="6667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3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Es esperado: no hay segundo router</a:t>
            </a:r>
            <a:endParaRPr b="0" lang="es-BO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809640" y="5429160"/>
            <a:ext cx="10286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Diagnostica observando cada capa: servicio → FRR → kernel → interfaz.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COMPRUEBA QUE PUEDES EXPLICARLO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Evaluación de salida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14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857160" y="1333440"/>
            <a:ext cx="380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1.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333440" y="1333440"/>
            <a:ext cx="8381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¿De qué proyectos deriva FRR?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857160" y="1924200"/>
            <a:ext cx="380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2.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333440" y="1924200"/>
            <a:ext cx="8381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¿Qué función cumple zebra?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857160" y="2514600"/>
            <a:ext cx="380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3.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1333440" y="2514600"/>
            <a:ext cx="8381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¿Por qué no hay vecindad OSPF?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857160" y="3105000"/>
            <a:ext cx="380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4.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333440" y="3105000"/>
            <a:ext cx="8381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¿Qué hace una ruta blackhole?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857160" y="3695760"/>
            <a:ext cx="380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5.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1333440" y="3695760"/>
            <a:ext cx="8381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¿Qué guarda write memory?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857160" y="4286160"/>
            <a:ext cx="380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5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6.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333440" y="4286160"/>
            <a:ext cx="8381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5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¿Qué diferencia hay entre show ip route e ip -4 route?</a:t>
            </a:r>
            <a:endParaRPr b="0" lang="es-BO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8572680" y="1714680"/>
            <a:ext cx="2285640" cy="2190240"/>
          </a:xfrm>
          <a:prstGeom prst="roundRect">
            <a:avLst>
              <a:gd name="adj" fmla="val 3478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810640" y="2000160"/>
            <a:ext cx="1809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IDEA FINAL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8810640" y="2476440"/>
            <a:ext cx="1809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Linux proporciona interfaces y forwarding.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0b1324"/>
                </a:solidFill>
                <a:effectLst/>
                <a:uFillTx/>
                <a:latin typeface="Arial"/>
              </a:rPr>
              <a:t>FRR aporta la lógica de routing y una CLI familiar.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514440" y="28584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98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CIERRE</a:t>
            </a:r>
            <a:endParaRPr b="0" lang="es-BO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514440" y="571680"/>
            <a:ext cx="102866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25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Referencias y siguiente paso</a:t>
            </a:r>
            <a:endParaRPr b="0" lang="es-BO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11001240" y="29520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13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15</a:t>
            </a:r>
            <a:endParaRPr b="0" lang="es-BO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781200" y="1428840"/>
            <a:ext cx="3809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Documentación oficial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781200" y="1809720"/>
            <a:ext cx="4762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9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docs.frrouting.org</a:t>
            </a:r>
            <a:endParaRPr b="0" lang="es-BO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781200" y="2286000"/>
            <a:ext cx="5714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BO" sz="1430" strike="noStrike" u="none">
                <a:solidFill>
                  <a:srgbClr val="a8b7cc"/>
                </a:solidFill>
                <a:effectLst/>
                <a:uFillTx/>
                <a:latin typeface="Arial"/>
              </a:rPr>
              <a:t>Instalación · setup · vtysh · rutas estáticas</a:t>
            </a:r>
            <a:endParaRPr b="0" lang="es-BO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781200" y="3381480"/>
            <a:ext cx="3809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20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Próxima ampliación</a:t>
            </a:r>
            <a:endParaRPr b="0" lang="es-BO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81200" y="3762360"/>
            <a:ext cx="68576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80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Añadir un segundo router Linux o un contenedor y activar OSPF.</a:t>
            </a:r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8191440" y="1476360"/>
            <a:ext cx="2571480" cy="2571480"/>
          </a:xfrm>
          <a:prstGeom prst="roundRect">
            <a:avLst>
              <a:gd name="adj" fmla="val 2963"/>
            </a:avLst>
          </a:prstGeom>
          <a:solidFill>
            <a:srgbClr val="14223b"/>
          </a:solidFill>
          <a:ln w="9525">
            <a:solidFill>
              <a:srgbClr val="263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BO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8810640" y="1905120"/>
            <a:ext cx="13330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375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FRR</a:t>
            </a:r>
            <a:endParaRPr b="0" lang="es-BO" sz="3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8572680" y="2714760"/>
            <a:ext cx="1809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control plane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+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BO" sz="1650" strike="noStrike" u="none">
                <a:solidFill>
                  <a:srgbClr val="f4f7fb"/>
                </a:solidFill>
                <a:effectLst/>
                <a:uFillTx/>
                <a:latin typeface="Arial"/>
              </a:rPr>
              <a:t>Linux data plane</a:t>
            </a:r>
            <a:endParaRPr b="0" lang="es-BO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781200" y="5762520"/>
            <a:ext cx="285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BO" sz="1870" strike="noStrike" u="none">
                <a:solidFill>
                  <a:srgbClr val="22d3ee"/>
                </a:solidFill>
                <a:effectLst/>
                <a:uFillTx/>
                <a:latin typeface="Arial"/>
              </a:rPr>
              <a:t>Gracias</a:t>
            </a:r>
            <a:endParaRPr b="0" lang="es-BO" sz="18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2026-10-09T15:12:37Z</dcterms:created>
  <dc:creator>Walnut Exporter</dc:creator>
  <dc:description/>
  <dc:language>es-BO</dc:language>
  <cp:lastModifiedBy/>
  <dcterms:modified xsi:type="dcterms:W3CDTF">2026-10-09T11:54:36Z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